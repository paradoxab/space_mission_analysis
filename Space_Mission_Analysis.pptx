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6C5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71" d="100"/>
          <a:sy n="71" d="100"/>
        </p:scale>
        <p:origin x="106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5EA7F-63C6-07CF-D18B-328E97BC6B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334FDC-EADF-6D89-6007-42E55B63A2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D6FA20-025C-14E7-0249-AF790AD4B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5D997-DF42-462D-BCEE-7F082474CDEB}" type="datetimeFigureOut">
              <a:rPr lang="en-IN" smtClean="0"/>
              <a:t>26-11-25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C93A88-5EBD-FD11-4AFF-3EEFCC30F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16A65B-F5DD-AA91-FEFA-64742C637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3D46D-2E3F-4B06-B73C-56E7830D18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8960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2F978-997A-2767-E977-4051E41C3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B66D0-775C-68D0-DF55-87E100D597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D31C4-67CD-8A54-EBF8-F386D72B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5D997-DF42-462D-BCEE-7F082474CDEB}" type="datetimeFigureOut">
              <a:rPr lang="en-IN" smtClean="0"/>
              <a:t>26-11-25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3E0BB5-5E1B-E872-2E71-DC9D83C2E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90154-8F09-5564-3A74-70D8CD4A3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3D46D-2E3F-4B06-B73C-56E7830D18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7358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3FFAC-2A6E-3A3B-1D32-632A35282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31C7C3-1C10-3244-05BE-04A1D32BBC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2DCBA-3230-6AEB-0F19-D738E3956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5D997-DF42-462D-BCEE-7F082474CDEB}" type="datetimeFigureOut">
              <a:rPr lang="en-IN" smtClean="0"/>
              <a:t>26-11-25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B53ED5-686F-EA5C-3CE2-7E717486E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FD8A1-4E0C-8EE8-B221-4E6003AE6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3D46D-2E3F-4B06-B73C-56E7830D18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6337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1AC4E-C79F-B4BD-B81C-E86837352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CE720-9D74-49F3-514A-9A306CF622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34444E-F38F-B4CD-3E38-161F746F3F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E4542D-5AEA-DAE6-526C-E3E8FC2D2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5D997-DF42-462D-BCEE-7F082474CDEB}" type="datetimeFigureOut">
              <a:rPr lang="en-IN" smtClean="0"/>
              <a:t>26-11-25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9E2C02-EFA2-4EC7-8CA7-90816425E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6DD6CE-4014-720C-40E9-3FFC0D3DA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3D46D-2E3F-4B06-B73C-56E7830D18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690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A5DA9-88EA-BD05-5737-CDEFECA89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4D31ED-78E5-4892-B4D4-D98D7AFB69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1A27E8-37C3-6717-C70A-E1B997BA8A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D7072F-DE09-E918-8C36-C255CA2748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C7CC6F-EC54-7B64-2402-FA998A49A4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71F1A9-A70A-A971-D217-69EF1C8E0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5D997-DF42-462D-BCEE-7F082474CDEB}" type="datetimeFigureOut">
              <a:rPr lang="en-IN" smtClean="0"/>
              <a:t>26-11-25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4B1218-6559-C1C4-B598-C13BDBB2A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298748-1D5F-B44C-30E2-00719AC8E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3D46D-2E3F-4B06-B73C-56E7830D18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3707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B67B3-9AFA-B1F5-61B9-F353AAF7B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ED259A-7C2B-1941-3C55-20E3C0494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5D997-DF42-462D-BCEE-7F082474CDEB}" type="datetimeFigureOut">
              <a:rPr lang="en-IN" smtClean="0"/>
              <a:t>26-11-25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193D04-8C86-8545-EEEA-C2EE89DC0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DD667E-F288-DECA-97D6-438D0E28A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3D46D-2E3F-4B06-B73C-56E7830D18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8582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59C3F1-3B5C-D26D-91B5-32457E0AC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5D997-DF42-462D-BCEE-7F082474CDEB}" type="datetimeFigureOut">
              <a:rPr lang="en-IN" smtClean="0"/>
              <a:t>26-11-25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A82E6E-6C95-1A4A-87B6-1E15C52F3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853E8F-16DA-9E77-1E9C-1FDEAD948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3D46D-2E3F-4B06-B73C-56E7830D18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9242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4ABCB-981C-20EC-F587-2EA756B78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74A05-CA02-DB2E-6524-FD6E62CEE0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A33A83-F2E1-5D73-9036-886CA7355F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DD591E-DC5F-EF14-090E-C6D806E31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5D997-DF42-462D-BCEE-7F082474CDEB}" type="datetimeFigureOut">
              <a:rPr lang="en-IN" smtClean="0"/>
              <a:t>26-11-25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8EBA19-6313-D098-8C83-91966FE0A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B79CFD-90E5-8584-DC0D-BFE99BA46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3D46D-2E3F-4B06-B73C-56E7830D18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7013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83591-4D7E-5B0A-9B33-C92E4F9F4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4DDDFA-932C-CAD5-852F-7BF7F4B75A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ACDA31-252A-23BE-0714-95220DB9EC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BE6F19-683C-B8B5-7874-A7BD902C1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5D997-DF42-462D-BCEE-7F082474CDEB}" type="datetimeFigureOut">
              <a:rPr lang="en-IN" smtClean="0"/>
              <a:t>26-11-25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CD68B9-73EE-8BA2-C5EF-3573A6D4B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07F859-C9D6-130A-C9DD-75344A4D4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3D46D-2E3F-4B06-B73C-56E7830D18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8289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7163D-AFE6-8483-8FD5-A59892AAB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EE426F-09AA-60F0-6636-EFE90B30F1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C4589-1725-451D-F431-2361E5D85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5D997-DF42-462D-BCEE-7F082474CDEB}" type="datetimeFigureOut">
              <a:rPr lang="en-IN" smtClean="0"/>
              <a:t>26-11-25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4B726-280C-0A30-B3B6-F1F8044D2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2A248-9F4A-30FE-AD9E-CD62F8C68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3D46D-2E3F-4B06-B73C-56E7830D18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521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138249-E9CB-8DEA-3227-F50588C1D1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E138F8-6AFD-F7F1-CB1D-73A502BB27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A4FA13-9702-68E8-867E-81790C714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5D997-DF42-462D-BCEE-7F082474CDEB}" type="datetimeFigureOut">
              <a:rPr lang="en-IN" smtClean="0"/>
              <a:t>26-11-25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B3D33-0AFF-2A6D-A64E-6ABD5A9D1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DE9117-001F-7E46-F028-6ADBEF519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3D46D-2E3F-4B06-B73C-56E7830D18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5929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09D096-F834-8964-1032-1B1EB928C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5D5F7-D4C9-5A39-E48A-5F883872B0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47E3AB-9D29-797D-40C9-D403173350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85D997-DF42-462D-BCEE-7F082474CDEB}" type="datetimeFigureOut">
              <a:rPr lang="en-IN" smtClean="0"/>
              <a:t>26-11-25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DBA33-3FB0-6178-0957-322336E0DE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63CA1B-CF96-E765-7BF1-3012A70BA3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93D46D-2E3F-4B06-B73C-56E7830D18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3444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6C5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CA3F120-DC87-7273-3E9C-7BB323A0E7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0850" y="586739"/>
            <a:ext cx="3670300" cy="36703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D2FE196-0F00-B64A-0BB6-FB95A3D46218}"/>
              </a:ext>
            </a:extLst>
          </p:cNvPr>
          <p:cNvSpPr txBox="1"/>
          <p:nvPr/>
        </p:nvSpPr>
        <p:spPr>
          <a:xfrm>
            <a:off x="3027680" y="4056092"/>
            <a:ext cx="65227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Eras Bold ITC" panose="020B0907030504020204" pitchFamily="34" charset="0"/>
              </a:rPr>
              <a:t>Space Mission Analysis Report</a:t>
            </a:r>
            <a:endParaRPr lang="en-IN" sz="3200" dirty="0">
              <a:latin typeface="Eras Bold ITC" panose="020B0907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0944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6C5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A0E7225-9C6F-9CC5-0339-A66FB944BB37}"/>
              </a:ext>
            </a:extLst>
          </p:cNvPr>
          <p:cNvSpPr txBox="1"/>
          <p:nvPr/>
        </p:nvSpPr>
        <p:spPr>
          <a:xfrm>
            <a:off x="132552" y="412333"/>
            <a:ext cx="574915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Key Insights from Price Distribution Histogram :</a:t>
            </a:r>
          </a:p>
          <a:p>
            <a:endParaRPr lang="en-US" sz="2400" b="1" dirty="0"/>
          </a:p>
          <a:p>
            <a:r>
              <a:rPr lang="en-US" sz="1600" b="1" dirty="0"/>
              <a:t>Skewed Distribution:</a:t>
            </a:r>
            <a:br>
              <a:rPr lang="en-US" sz="1600" dirty="0"/>
            </a:br>
            <a:r>
              <a:rPr lang="en-US" sz="1600" dirty="0"/>
              <a:t>The histogram shows a highly right-skewed distribution, indicating that most listings fall into the lower price range while only a few have very high prices.</a:t>
            </a:r>
          </a:p>
          <a:p>
            <a:r>
              <a:rPr lang="en-US" sz="1600" b="1" dirty="0"/>
              <a:t>Concentration of Low Prices:</a:t>
            </a:r>
            <a:br>
              <a:rPr lang="en-US" sz="1600" dirty="0"/>
            </a:br>
            <a:r>
              <a:rPr lang="en-US" sz="1600" dirty="0"/>
              <a:t>A majority of the properties are priced between 0–500, showing that the dataset is dominated by budget-friendly listings.</a:t>
            </a:r>
          </a:p>
          <a:p>
            <a:r>
              <a:rPr lang="en-US" sz="1600" b="1" dirty="0"/>
              <a:t>Presence of Outliers:</a:t>
            </a:r>
            <a:br>
              <a:rPr lang="en-US" sz="1600" dirty="0"/>
            </a:br>
            <a:r>
              <a:rPr lang="en-US" sz="1600" dirty="0"/>
              <a:t>A long tail stretching up to 5000 suggests the existence of extreme high-price outliers, which can significantly influence statistical measures.</a:t>
            </a:r>
          </a:p>
          <a:p>
            <a:r>
              <a:rPr lang="en-US" sz="1600" b="1" dirty="0"/>
              <a:t>Rarity of High-Priced Listings:</a:t>
            </a:r>
            <a:br>
              <a:rPr lang="en-US" sz="1600" dirty="0"/>
            </a:br>
            <a:r>
              <a:rPr lang="en-US" sz="1600" dirty="0"/>
              <a:t>Listings above 500 are very few, indicating that luxury or premium options are uncommon in this dataset.</a:t>
            </a:r>
          </a:p>
          <a:p>
            <a:r>
              <a:rPr lang="en-US" sz="1600" b="1" dirty="0"/>
              <a:t>Impact on Analysis:</a:t>
            </a:r>
            <a:br>
              <a:rPr lang="en-US" sz="1600" dirty="0"/>
            </a:br>
            <a:r>
              <a:rPr lang="en-US" sz="1600" dirty="0"/>
              <a:t>Because of the skewness and outliers, metrics like the mean may not accurately represent typical prices, and transformations or outlier handling may be necessary before modeling.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26D1F8C-9B60-DE3E-11CB-15DF3292C1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1710" y="849436"/>
            <a:ext cx="6136541" cy="4758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57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6C5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E15962-D5E6-D510-7FCD-8D2AE95A1EFB}"/>
              </a:ext>
            </a:extLst>
          </p:cNvPr>
          <p:cNvSpPr txBox="1"/>
          <p:nvPr/>
        </p:nvSpPr>
        <p:spPr>
          <a:xfrm>
            <a:off x="233680" y="721360"/>
            <a:ext cx="56896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Key Insights from Top Launch Locations (Boxplot):</a:t>
            </a:r>
          </a:p>
          <a:p>
            <a:r>
              <a:rPr lang="en-US" b="1"/>
              <a:t>Majority of Prices Are Low:</a:t>
            </a:r>
            <a:br>
              <a:rPr lang="en-US"/>
            </a:br>
            <a:r>
              <a:rPr lang="en-US"/>
              <a:t>Most listings fall within a very low price range, as shown by the tightly packed box at the bottom of the plot.</a:t>
            </a:r>
          </a:p>
          <a:p>
            <a:r>
              <a:rPr lang="en-US" b="1"/>
              <a:t>Presence of Extreme Outliers:</a:t>
            </a:r>
            <a:br>
              <a:rPr lang="en-US"/>
            </a:br>
            <a:r>
              <a:rPr lang="en-US"/>
              <a:t>Several points extend far above the main cluster, including outliers around 500, 1200, and even 5000, indicating rare high-priced listings.</a:t>
            </a:r>
          </a:p>
          <a:p>
            <a:r>
              <a:rPr lang="en-US" b="1"/>
              <a:t>High Price Variation:</a:t>
            </a:r>
            <a:br>
              <a:rPr lang="en-US"/>
            </a:br>
            <a:r>
              <a:rPr lang="en-US"/>
              <a:t>The large spread between the box and the distant outliers highlights significant price variability across locations.</a:t>
            </a:r>
          </a:p>
          <a:p>
            <a:r>
              <a:rPr lang="en-US" b="1"/>
              <a:t>Skewed Price Distribution:</a:t>
            </a:r>
            <a:br>
              <a:rPr lang="en-US"/>
            </a:br>
            <a:r>
              <a:rPr lang="en-US"/>
              <a:t>The extended upper tail suggests a strong right skew, dominated by a few premium or exceptional listings.</a:t>
            </a:r>
          </a:p>
          <a:p>
            <a:r>
              <a:rPr lang="en-US" b="1"/>
              <a:t>Location Influence:</a:t>
            </a:r>
            <a:br>
              <a:rPr lang="en-US"/>
            </a:br>
            <a:r>
              <a:rPr lang="en-US"/>
              <a:t>Since multiple outliers appear across top launch locations, it suggests that certain areas host premium-priced offerings compared to the rest.</a:t>
            </a:r>
          </a:p>
        </p:txBody>
      </p:sp>
      <p:sp>
        <p:nvSpPr>
          <p:cNvPr id="8" name="AutoShape 7" descr="Uploaded image">
            <a:extLst>
              <a:ext uri="{FF2B5EF4-FFF2-40B4-BE49-F238E27FC236}">
                <a16:creationId xmlns:a16="http://schemas.microsoft.com/office/drawing/2014/main" id="{5FB4EEEA-3EB0-FF4B-581A-3C1D741C4A4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8931C9-95E7-0ABE-81F7-94C546C13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3280" y="721360"/>
            <a:ext cx="6109352" cy="4388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361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6C5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BFE581-69AC-8770-D42D-5332CC1538F7}"/>
              </a:ext>
            </a:extLst>
          </p:cNvPr>
          <p:cNvSpPr txBox="1"/>
          <p:nvPr/>
        </p:nvSpPr>
        <p:spPr>
          <a:xfrm>
            <a:off x="233680" y="287725"/>
            <a:ext cx="621792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Key Insights from Top Launch Locations :</a:t>
            </a:r>
          </a:p>
          <a:p>
            <a:pPr>
              <a:buNone/>
            </a:pPr>
            <a:r>
              <a:rPr lang="en-US" b="1" dirty="0"/>
              <a:t>High Launch Concentration in Kazakhstan &amp; Russia:</a:t>
            </a:r>
            <a:br>
              <a:rPr lang="en-US" dirty="0"/>
            </a:br>
            <a:r>
              <a:rPr lang="en-US" dirty="0"/>
              <a:t>Most launches occur from Baikonur Cosmodrome (Kazakhstan) and multiple sites in </a:t>
            </a:r>
            <a:r>
              <a:rPr lang="en-US" dirty="0" err="1"/>
              <a:t>Plesetsk</a:t>
            </a:r>
            <a:r>
              <a:rPr lang="en-US" dirty="0"/>
              <a:t> Cosmodrome (Russia), indicating they are the dominant global launch hubs.</a:t>
            </a:r>
          </a:p>
          <a:p>
            <a:pPr>
              <a:buNone/>
            </a:pPr>
            <a:r>
              <a:rPr lang="en-US" b="1" dirty="0"/>
              <a:t>Baikonur Site 31/6 Leads the Chart:</a:t>
            </a:r>
            <a:br>
              <a:rPr lang="en-US" dirty="0"/>
            </a:br>
            <a:r>
              <a:rPr lang="en-US" dirty="0"/>
              <a:t>Site 31/6 in Baikonur shows the highest number of launches, highlighting its major operational role.</a:t>
            </a:r>
          </a:p>
          <a:p>
            <a:pPr>
              <a:buNone/>
            </a:pPr>
            <a:r>
              <a:rPr lang="en-US" b="1" dirty="0" err="1"/>
              <a:t>Plesetsk</a:t>
            </a:r>
            <a:r>
              <a:rPr lang="en-US" b="1" dirty="0"/>
              <a:t> Cosmodrome Shows Strong Activity:</a:t>
            </a:r>
            <a:br>
              <a:rPr lang="en-US" dirty="0"/>
            </a:br>
            <a:r>
              <a:rPr lang="en-US" dirty="0"/>
              <a:t>Several </a:t>
            </a:r>
            <a:r>
              <a:rPr lang="en-US" dirty="0" err="1"/>
              <a:t>Plesetsk</a:t>
            </a:r>
            <a:r>
              <a:rPr lang="en-US" dirty="0"/>
              <a:t> sites (132/1, 43/4, 41/1, 132/2, 133/3, 43/3) appear consistently among the top locations, reflecting Russia’s dense launch infrastructure.</a:t>
            </a:r>
          </a:p>
          <a:p>
            <a:pPr>
              <a:buNone/>
            </a:pPr>
            <a:r>
              <a:rPr lang="en-US" b="1" dirty="0"/>
              <a:t>Global Diversity is Limited:</a:t>
            </a:r>
            <a:br>
              <a:rPr lang="en-US" dirty="0"/>
            </a:br>
            <a:r>
              <a:rPr lang="en-US" dirty="0"/>
              <a:t>Only two non-Russian/Kazakh sites—Kennedy Space Center (USA) and ELA-2 (France)—appear in the top 10, showing limited global distribution among top launch locations.</a:t>
            </a:r>
          </a:p>
          <a:p>
            <a:pPr>
              <a:buNone/>
            </a:pPr>
            <a:r>
              <a:rPr lang="en-US" b="1" dirty="0"/>
              <a:t>Launch Frequency Varies Significantly:</a:t>
            </a:r>
            <a:br>
              <a:rPr lang="en-US" dirty="0"/>
            </a:br>
            <a:r>
              <a:rPr lang="en-US" dirty="0"/>
              <a:t>While the top sites have over 200 launches, the lower-ranked ones show numbers around 120–140, indicating notable variation in site usage.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0B0384-8786-0BF3-E4B9-50CC5F088F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8327" y="731105"/>
            <a:ext cx="4660530" cy="419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935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6C5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5C4B69A-0320-0434-0416-03924FDD54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4181"/>
            <a:ext cx="12192000" cy="546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187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6C5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FE2B6B-AC11-E454-EB8B-BC2ABFD34AF2}"/>
              </a:ext>
            </a:extLst>
          </p:cNvPr>
          <p:cNvSpPr txBox="1"/>
          <p:nvPr/>
        </p:nvSpPr>
        <p:spPr>
          <a:xfrm>
            <a:off x="284480" y="525145"/>
            <a:ext cx="1176528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Key Insights from Launch Trends Over the Years :</a:t>
            </a:r>
          </a:p>
          <a:p>
            <a:pPr>
              <a:buNone/>
            </a:pPr>
            <a:r>
              <a:rPr lang="en-US" sz="2000" b="1" dirty="0"/>
              <a:t>Strong Early Growth Phase (1957–1965):</a:t>
            </a:r>
            <a:br>
              <a:rPr lang="en-US" sz="2000" dirty="0"/>
            </a:br>
            <a:r>
              <a:rPr lang="en-US" sz="2000" dirty="0"/>
              <a:t>Launch activity increases sharply during the early space race as major nations push rapid advancements.</a:t>
            </a:r>
          </a:p>
          <a:p>
            <a:pPr>
              <a:buNone/>
            </a:pPr>
            <a:r>
              <a:rPr lang="en-US" sz="2000" b="1" dirty="0"/>
              <a:t>Peak Launch Era (1967–1976):</a:t>
            </a:r>
            <a:br>
              <a:rPr lang="en-US" sz="2000" dirty="0"/>
            </a:br>
            <a:r>
              <a:rPr lang="en-US" sz="2000" dirty="0"/>
              <a:t>This period records the highest and most stable launch frequencies, consistently reaching 100–120 launches per year.</a:t>
            </a:r>
          </a:p>
          <a:p>
            <a:pPr>
              <a:buNone/>
            </a:pPr>
            <a:r>
              <a:rPr lang="en-US" sz="2000" b="1" dirty="0"/>
              <a:t>Sudden Decline After 1978:</a:t>
            </a:r>
            <a:br>
              <a:rPr lang="en-US" sz="2000" dirty="0"/>
            </a:br>
            <a:r>
              <a:rPr lang="en-US" sz="2000" dirty="0"/>
              <a:t>A noticeable drop occurs post-1978, indicating reduced launch intensity due to geopolitical and programmatic changes.</a:t>
            </a:r>
          </a:p>
          <a:p>
            <a:pPr>
              <a:buNone/>
            </a:pPr>
            <a:r>
              <a:rPr lang="en-US" sz="2000" b="1" dirty="0"/>
              <a:t>Moderate and Stable Activity (1980–2010):</a:t>
            </a:r>
            <a:br>
              <a:rPr lang="en-US" sz="2000" dirty="0"/>
            </a:br>
            <a:r>
              <a:rPr lang="en-US" sz="2000" dirty="0"/>
              <a:t>Launch numbers remain relatively steady between 40–80 annually, showing a balanced but less intense phase of global space operations.</a:t>
            </a:r>
          </a:p>
          <a:p>
            <a:pPr>
              <a:buNone/>
            </a:pPr>
            <a:r>
              <a:rPr lang="en-US" sz="2000" b="1" dirty="0"/>
              <a:t>Modern Revival in Launch Activity (2015–2020):</a:t>
            </a:r>
            <a:br>
              <a:rPr lang="en-US" sz="2000" dirty="0"/>
            </a:br>
            <a:r>
              <a:rPr lang="en-US" sz="2000" dirty="0"/>
              <a:t>A sharp rise in launches appears after 2015, driven by commercial space growth, reusable rockets, and increased satellite deployment.</a:t>
            </a:r>
          </a:p>
          <a:p>
            <a:pPr>
              <a:buNone/>
            </a:pPr>
            <a:r>
              <a:rPr lang="en-US" sz="2000" b="1" dirty="0"/>
              <a:t>Final Drop in 2020:</a:t>
            </a:r>
            <a:br>
              <a:rPr lang="en-US" sz="2000" dirty="0"/>
            </a:br>
            <a:r>
              <a:rPr lang="en-US" sz="2000" dirty="0"/>
              <a:t>A dip in the last year may be due to incomplete data or global events such as the pandemic affecting launch schedules.</a:t>
            </a:r>
          </a:p>
        </p:txBody>
      </p:sp>
    </p:spTree>
    <p:extLst>
      <p:ext uri="{BB962C8B-B14F-4D97-AF65-F5344CB8AC3E}">
        <p14:creationId xmlns:p14="http://schemas.microsoft.com/office/powerpoint/2010/main" val="2219614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6C5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1EA257-F8E1-C479-A055-4A299E0E8324}"/>
              </a:ext>
            </a:extLst>
          </p:cNvPr>
          <p:cNvSpPr txBox="1"/>
          <p:nvPr/>
        </p:nvSpPr>
        <p:spPr>
          <a:xfrm>
            <a:off x="175819" y="463687"/>
            <a:ext cx="60960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Key Insights from Most Frequently Used Rockets :</a:t>
            </a:r>
          </a:p>
          <a:p>
            <a:pPr>
              <a:buNone/>
            </a:pPr>
            <a:r>
              <a:rPr lang="en-US" b="1" dirty="0"/>
              <a:t>Cosmos-3MRB (65M-RB) | BOR-5 Shuttle Leads Usage:</a:t>
            </a:r>
            <a:br>
              <a:rPr lang="en-US" dirty="0"/>
            </a:br>
            <a:r>
              <a:rPr lang="en-US" dirty="0"/>
              <a:t>This rocket combination has the highest number of launches, indicating strong reliability and repeated operational deployment.</a:t>
            </a:r>
          </a:p>
          <a:p>
            <a:pPr>
              <a:buNone/>
            </a:pPr>
            <a:r>
              <a:rPr lang="en-US" b="1" dirty="0"/>
              <a:t>Lambda-V, Titan Variants, and DSP Rockets Show Consistent Use:</a:t>
            </a:r>
            <a:br>
              <a:rPr lang="en-US" dirty="0"/>
            </a:br>
            <a:r>
              <a:rPr lang="en-US" dirty="0"/>
              <a:t>Rockets like Lambda-V, Titan IV(402)B, and Titan IIID appear frequently, showing their importance in various mission types.</a:t>
            </a:r>
          </a:p>
          <a:p>
            <a:pPr>
              <a:buNone/>
            </a:pPr>
            <a:r>
              <a:rPr lang="en-US" b="1" dirty="0"/>
              <a:t>Moderate Usage for Proton-K and Titan III (KH-9):</a:t>
            </a:r>
            <a:br>
              <a:rPr lang="en-US" dirty="0"/>
            </a:br>
            <a:r>
              <a:rPr lang="en-US" dirty="0"/>
              <a:t>These rockets fall in the mid-range with 4 launches each, suggesting balanced but not dominant use.</a:t>
            </a:r>
          </a:p>
          <a:p>
            <a:pPr>
              <a:buNone/>
            </a:pPr>
            <a:r>
              <a:rPr lang="en-US" b="1" dirty="0"/>
              <a:t>Limited Use of Several Other Rockets:</a:t>
            </a:r>
            <a:br>
              <a:rPr lang="en-US" dirty="0"/>
            </a:br>
            <a:r>
              <a:rPr lang="en-US" dirty="0"/>
              <a:t>Models such as Safir-1B, Strela-2M, and Cosmos-3MRB (BOR-4 Shuttle) appear fewer times, indicating niche or mission-specific deployment.</a:t>
            </a:r>
          </a:p>
          <a:p>
            <a:pPr>
              <a:buNone/>
            </a:pPr>
            <a:r>
              <a:rPr lang="en-US" b="1" dirty="0"/>
              <a:t>Overall Trend Shows Mixed Rocket Diversity:</a:t>
            </a:r>
            <a:br>
              <a:rPr lang="en-US" dirty="0"/>
            </a:br>
            <a:r>
              <a:rPr lang="en-US" dirty="0"/>
              <a:t>The chart reflects a wide variety of rockets being used, suggesting no single rocket fully dominates the entire mission landscape.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12D37C-F628-CF37-8457-F439AB729A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1819" y="595769"/>
            <a:ext cx="5722441" cy="5134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088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6C5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CE211E-0F89-10C3-CD37-278FD9B8CE05}"/>
              </a:ext>
            </a:extLst>
          </p:cNvPr>
          <p:cNvSpPr txBox="1"/>
          <p:nvPr/>
        </p:nvSpPr>
        <p:spPr>
          <a:xfrm>
            <a:off x="142240" y="510222"/>
            <a:ext cx="6096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Key Insights from Active vs Inactive Rockets :</a:t>
            </a:r>
          </a:p>
          <a:p>
            <a:pPr>
              <a:buNone/>
            </a:pPr>
            <a:r>
              <a:rPr lang="en-US" b="1" dirty="0"/>
              <a:t>Retired Rockets Dominate the Dataset:</a:t>
            </a:r>
            <a:br>
              <a:rPr lang="en-US" dirty="0"/>
            </a:br>
            <a:r>
              <a:rPr lang="en-US" dirty="0"/>
              <a:t>The majority of rockets in the dataset are retired, indicating that most launch vehicles are no longer in active service.</a:t>
            </a:r>
          </a:p>
          <a:p>
            <a:pPr>
              <a:buNone/>
            </a:pPr>
            <a:r>
              <a:rPr lang="en-US" b="1" dirty="0"/>
              <a:t>Very Few Rockets Remain Active:</a:t>
            </a:r>
            <a:br>
              <a:rPr lang="en-US" dirty="0"/>
            </a:br>
            <a:r>
              <a:rPr lang="en-US" dirty="0"/>
              <a:t>Only a small portion of rockets are still operational, showing limited active fleet availability.</a:t>
            </a:r>
          </a:p>
          <a:p>
            <a:pPr>
              <a:buNone/>
            </a:pPr>
            <a:r>
              <a:rPr lang="en-US" b="1" dirty="0"/>
              <a:t>Historical Rockets Make Up Most of the Records:</a:t>
            </a:r>
            <a:br>
              <a:rPr lang="en-US" dirty="0"/>
            </a:br>
            <a:r>
              <a:rPr lang="en-US" dirty="0"/>
              <a:t>The large retired count suggests the dataset spans many decades of spaceflight history.</a:t>
            </a:r>
          </a:p>
          <a:p>
            <a:pPr>
              <a:buNone/>
            </a:pPr>
            <a:r>
              <a:rPr lang="en-US" b="1" dirty="0"/>
              <a:t>Imbalance Highlights Technological Evolution:</a:t>
            </a:r>
            <a:br>
              <a:rPr lang="en-US" dirty="0"/>
            </a:br>
            <a:r>
              <a:rPr lang="en-US" dirty="0"/>
              <a:t>Frequent retirement of older models reflects advancements in rocket design, efficiency, and mission reliability.</a:t>
            </a:r>
          </a:p>
          <a:p>
            <a:pPr>
              <a:buNone/>
            </a:pPr>
            <a:r>
              <a:rPr lang="en-US" b="1" dirty="0"/>
              <a:t>Modern Launch Capabilities Rely on Fewer Active Rockets:</a:t>
            </a:r>
            <a:br>
              <a:rPr lang="en-US" dirty="0"/>
            </a:br>
            <a:r>
              <a:rPr lang="en-US" dirty="0"/>
              <a:t>The significantly lower number of active rockets indicates reliance on a small, modern set of launch vehicles.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9C7884-A067-CE2E-116D-53BCD76D65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1" y="510222"/>
            <a:ext cx="5710554" cy="524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835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6C5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600290F-E1BA-0D49-B6A1-FAB146B1CC75}"/>
              </a:ext>
            </a:extLst>
          </p:cNvPr>
          <p:cNvSpPr txBox="1"/>
          <p:nvPr/>
        </p:nvSpPr>
        <p:spPr>
          <a:xfrm>
            <a:off x="264160" y="197346"/>
            <a:ext cx="6096000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Key Insights from Companies with Highest Spending :</a:t>
            </a:r>
          </a:p>
          <a:p>
            <a:pPr>
              <a:buNone/>
            </a:pPr>
            <a:r>
              <a:rPr lang="en-US" b="1" dirty="0"/>
              <a:t>NASA Dominates Total Spending:</a:t>
            </a:r>
            <a:br>
              <a:rPr lang="en-US" dirty="0"/>
            </a:br>
            <a:r>
              <a:rPr lang="en-US" dirty="0"/>
              <a:t>NASA’s expenditure is far ahead of all other organizations, showing its large-scale investment in space missions and technology.</a:t>
            </a:r>
          </a:p>
          <a:p>
            <a:pPr>
              <a:buNone/>
            </a:pPr>
            <a:r>
              <a:rPr lang="en-US" b="1" dirty="0"/>
              <a:t>ULA Holds a Strong Second Position:</a:t>
            </a:r>
            <a:br>
              <a:rPr lang="en-US" dirty="0"/>
            </a:br>
            <a:r>
              <a:rPr lang="en-US" dirty="0"/>
              <a:t>United Launch Alliance shows significantly high spending, reflecting its major role in government and commercial launches.</a:t>
            </a:r>
          </a:p>
          <a:p>
            <a:pPr>
              <a:buNone/>
            </a:pPr>
            <a:r>
              <a:rPr lang="en-US" b="1" dirty="0"/>
              <a:t>Arianespace and SpaceX Show Moderate Spending:</a:t>
            </a:r>
            <a:br>
              <a:rPr lang="en-US" dirty="0"/>
            </a:br>
            <a:r>
              <a:rPr lang="en-US" dirty="0"/>
              <a:t>Both organizations fall in the mid-tier, indicating a balanced but consistent investment pattern.</a:t>
            </a:r>
          </a:p>
          <a:p>
            <a:pPr>
              <a:buNone/>
            </a:pPr>
            <a:r>
              <a:rPr lang="en-US" b="1" dirty="0"/>
              <a:t>Several Companies Maintain Lower but Steady Expenditures:</a:t>
            </a:r>
            <a:br>
              <a:rPr lang="en-US" dirty="0"/>
            </a:br>
            <a:r>
              <a:rPr lang="en-US" dirty="0"/>
              <a:t>Northrop, MHI, </a:t>
            </a:r>
            <a:r>
              <a:rPr lang="en-US" dirty="0" err="1"/>
              <a:t>Eurockot</a:t>
            </a:r>
            <a:r>
              <a:rPr lang="en-US" dirty="0"/>
              <a:t>, and </a:t>
            </a:r>
            <a:r>
              <a:rPr lang="en-US" dirty="0" err="1"/>
              <a:t>Kosmotras</a:t>
            </a:r>
            <a:r>
              <a:rPr lang="en-US" dirty="0"/>
              <a:t> show smaller yet stable spending levels, likely tied to focused mission portfolios.</a:t>
            </a:r>
          </a:p>
          <a:p>
            <a:pPr>
              <a:buNone/>
            </a:pPr>
            <a:r>
              <a:rPr lang="en-US" b="1" dirty="0"/>
              <a:t>ISRO Shows Efficient Low-Cost Operations:</a:t>
            </a:r>
            <a:br>
              <a:rPr lang="en-US" dirty="0"/>
            </a:br>
            <a:r>
              <a:rPr lang="en-US" dirty="0"/>
              <a:t>Despite being at the lower end of spending, ISRO’s global reputation indicates high efficiency and cost-effective mission execution.</a:t>
            </a:r>
          </a:p>
          <a:p>
            <a:pPr>
              <a:buNone/>
            </a:pPr>
            <a:r>
              <a:rPr lang="en-US" b="1" dirty="0"/>
              <a:t>Overall Spending Distribution is Highly Skewed:</a:t>
            </a:r>
            <a:br>
              <a:rPr lang="en-US" dirty="0"/>
            </a:br>
            <a:r>
              <a:rPr lang="en-US" dirty="0"/>
              <a:t>The gap between NASA and other organizations highlights differing scales of operation, budgets, and mission complexities.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67C81D-CAFE-60AE-7167-66D0146531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0160" y="1314767"/>
            <a:ext cx="5530110" cy="3521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9495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6C5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D182B2F-8D6F-4C3D-0082-6BC62EE29659}"/>
              </a:ext>
            </a:extLst>
          </p:cNvPr>
          <p:cNvSpPr txBox="1"/>
          <p:nvPr/>
        </p:nvSpPr>
        <p:spPr>
          <a:xfrm>
            <a:off x="91440" y="650240"/>
            <a:ext cx="60960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/>
              <a:t>Key Insights from Most Expensive Rockets :</a:t>
            </a:r>
          </a:p>
          <a:p>
            <a:pPr>
              <a:buNone/>
            </a:pPr>
            <a:r>
              <a:rPr lang="en-US" sz="1600" b="1" dirty="0"/>
              <a:t>Energiya/Buran Leads as the Costliest Rocket System:</a:t>
            </a:r>
            <a:br>
              <a:rPr lang="en-US" sz="1600" dirty="0"/>
            </a:br>
            <a:r>
              <a:rPr lang="en-US" sz="1600" dirty="0"/>
              <a:t>The Energiya/Buran program holds the highest expenditure, reflecting its massive scale and advanced engineering requirements.</a:t>
            </a:r>
          </a:p>
          <a:p>
            <a:pPr>
              <a:buNone/>
            </a:pPr>
            <a:r>
              <a:rPr lang="en-US" sz="1600" b="1" dirty="0"/>
              <a:t>Polyus Space Station Launch Vehicle Matches Buran in Cost:</a:t>
            </a:r>
            <a:br>
              <a:rPr lang="en-US" sz="1600" dirty="0"/>
            </a:br>
            <a:r>
              <a:rPr lang="en-US" sz="1600" dirty="0"/>
              <a:t>Energiya/Polyus also reaches the top cost tier, showing the immense budget involved in Soviet-era heavy-lift developments.</a:t>
            </a:r>
          </a:p>
          <a:p>
            <a:pPr>
              <a:buNone/>
            </a:pPr>
            <a:r>
              <a:rPr lang="en-US" sz="1600" b="1" dirty="0"/>
              <a:t>Saturn V Missions Show Consistent High Costs:</a:t>
            </a:r>
            <a:br>
              <a:rPr lang="en-US" sz="1600" dirty="0"/>
            </a:br>
            <a:r>
              <a:rPr lang="en-US" sz="1600" dirty="0"/>
              <a:t>All Saturn V rockets across Apollo missions (10 to 17) display very similar price levels, indicating standardized production and mission design.</a:t>
            </a:r>
          </a:p>
          <a:p>
            <a:pPr>
              <a:buNone/>
            </a:pPr>
            <a:r>
              <a:rPr lang="en-US" sz="1600" b="1" dirty="0"/>
              <a:t>Saturn V Costs Are High but Far Below Energiya:</a:t>
            </a:r>
            <a:br>
              <a:rPr lang="en-US" sz="1600" dirty="0"/>
            </a:br>
            <a:r>
              <a:rPr lang="en-US" sz="1600" dirty="0"/>
              <a:t>While expensive, Saturn V rockets cost less than half of the Energiya launch systems, highlighting major differences in program budgets.</a:t>
            </a:r>
          </a:p>
          <a:p>
            <a:pPr>
              <a:buNone/>
            </a:pPr>
            <a:r>
              <a:rPr lang="en-US" sz="1600" b="1" dirty="0"/>
              <a:t>Cost Distribution is Highly Concentrated:</a:t>
            </a:r>
            <a:br>
              <a:rPr lang="en-US" sz="1600" dirty="0"/>
            </a:br>
            <a:r>
              <a:rPr lang="en-US" sz="1600" dirty="0"/>
              <a:t>Only two rocket programs dominate the highest cost bracket, showing that extreme expenses occur in only a few flagship missions.</a:t>
            </a:r>
          </a:p>
          <a:p>
            <a:pPr>
              <a:buNone/>
            </a:pPr>
            <a:r>
              <a:rPr lang="en-US" sz="1600" b="1" dirty="0"/>
              <a:t>Apollo Mission Rockets Have Uniform Budget Patterns:</a:t>
            </a:r>
            <a:br>
              <a:rPr lang="en-US" sz="1600" dirty="0"/>
            </a:br>
            <a:r>
              <a:rPr lang="en-US" sz="1600" dirty="0"/>
              <a:t>The consistent pricing across Apollo 10–17 suggests </a:t>
            </a:r>
            <a:r>
              <a:rPr lang="en-US" sz="1600" dirty="0" err="1"/>
              <a:t>optimised</a:t>
            </a:r>
            <a:r>
              <a:rPr lang="en-US" sz="1600" dirty="0"/>
              <a:t> manufacturing processes and similar mission payload requirements.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87EF2D-354F-0433-B429-BE7692D76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7440" y="508000"/>
            <a:ext cx="5760405" cy="4860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8445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6C5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840554E-041C-F6DD-432D-1930D6900B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1838"/>
            <a:ext cx="12192000" cy="4736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200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6C5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3589F5B-3999-B810-0387-8ECD7517FD0D}"/>
              </a:ext>
            </a:extLst>
          </p:cNvPr>
          <p:cNvSpPr txBox="1"/>
          <p:nvPr/>
        </p:nvSpPr>
        <p:spPr>
          <a:xfrm>
            <a:off x="213360" y="211246"/>
            <a:ext cx="609600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Key Insights from Yearly Mission Status Trends :</a:t>
            </a:r>
          </a:p>
          <a:p>
            <a:pPr>
              <a:buNone/>
            </a:pPr>
            <a:r>
              <a:rPr lang="en-US" b="1" dirty="0"/>
              <a:t>Success Missions Dominated Every Year:</a:t>
            </a:r>
            <a:br>
              <a:rPr lang="en-US" dirty="0"/>
            </a:br>
            <a:r>
              <a:rPr lang="en-US" dirty="0"/>
              <a:t>The orange bars remain consistently higher than all other categories, proving strong reliability across decades.</a:t>
            </a:r>
          </a:p>
          <a:p>
            <a:pPr>
              <a:buNone/>
            </a:pPr>
            <a:r>
              <a:rPr lang="en-US" b="1" dirty="0"/>
              <a:t>Peak Success Era in the 1960s–1970s:</a:t>
            </a:r>
            <a:br>
              <a:rPr lang="en-US" dirty="0"/>
            </a:br>
            <a:r>
              <a:rPr lang="en-US" dirty="0"/>
              <a:t>Success missions reached their highest levels during the space-race years, showing rapid technological advancement.</a:t>
            </a:r>
          </a:p>
          <a:p>
            <a:pPr>
              <a:buNone/>
            </a:pPr>
            <a:r>
              <a:rPr lang="en-US" b="1" dirty="0"/>
              <a:t>Decline in Total Launch Activity After the Late 1970s:</a:t>
            </a:r>
            <a:br>
              <a:rPr lang="en-US" dirty="0"/>
            </a:br>
            <a:r>
              <a:rPr lang="en-US" dirty="0"/>
              <a:t>All mission categories drop sharply after 1978, marking a period of reduced global launch operations.</a:t>
            </a:r>
          </a:p>
          <a:p>
            <a:pPr>
              <a:buNone/>
            </a:pPr>
            <a:r>
              <a:rPr lang="en-US" b="1" dirty="0"/>
              <a:t>Failures and Partial Failures Decrease Over Time:</a:t>
            </a:r>
            <a:br>
              <a:rPr lang="en-US" dirty="0"/>
            </a:br>
            <a:r>
              <a:rPr lang="en-US" dirty="0"/>
              <a:t>Both failure categories show a gradual decline, reflecting improved rocket design and mission planning.</a:t>
            </a:r>
          </a:p>
          <a:p>
            <a:pPr>
              <a:buNone/>
            </a:pPr>
            <a:r>
              <a:rPr lang="en-US" b="1" dirty="0"/>
              <a:t>Modern Growth in Successful Missions After 2015:</a:t>
            </a:r>
            <a:br>
              <a:rPr lang="en-US" dirty="0"/>
            </a:br>
            <a:r>
              <a:rPr lang="en-US" dirty="0"/>
              <a:t>There is a fresh spike in successes post-2015, largely influenced by private companies and reusable rockets.</a:t>
            </a:r>
          </a:p>
          <a:p>
            <a:pPr>
              <a:buNone/>
            </a:pPr>
            <a:r>
              <a:rPr lang="en-US" b="1" dirty="0"/>
              <a:t>Pre-Launch Failures Stay Minimal:</a:t>
            </a:r>
            <a:br>
              <a:rPr lang="en-US" dirty="0"/>
            </a:br>
            <a:r>
              <a:rPr lang="en-US" dirty="0"/>
              <a:t>The red bars are consistently the lowest, indicating rare cases of issues occurring before launch.</a:t>
            </a:r>
          </a:p>
          <a:p>
            <a:pPr>
              <a:buNone/>
            </a:pPr>
            <a:r>
              <a:rPr lang="en-US" b="1" dirty="0"/>
              <a:t>Mission Trends Become More Stable After 1990:</a:t>
            </a:r>
            <a:br>
              <a:rPr lang="en-US" dirty="0"/>
            </a:br>
            <a:r>
              <a:rPr lang="en-US" dirty="0"/>
              <a:t>All mission outcomes show smoother, more predictable patterns, indicating matured spaceflight programs.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C5C22A-D382-2C91-4555-7D56E62FC86E}"/>
              </a:ext>
            </a:extLst>
          </p:cNvPr>
          <p:cNvSpPr txBox="1"/>
          <p:nvPr/>
        </p:nvSpPr>
        <p:spPr>
          <a:xfrm>
            <a:off x="6197600" y="379165"/>
            <a:ext cx="60960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Explanation of Legends in the Graph :</a:t>
            </a:r>
          </a:p>
          <a:p>
            <a:pPr>
              <a:buNone/>
            </a:pPr>
            <a:r>
              <a:rPr lang="en-US" b="1" dirty="0"/>
              <a:t>Clear Categorization of Mission Outcomes:</a:t>
            </a:r>
            <a:br>
              <a:rPr lang="en-US" dirty="0"/>
            </a:br>
            <a:r>
              <a:rPr lang="en-US" dirty="0"/>
              <a:t>The legend groups all mission results—Success, Failure, Partial Failure, and Pre-launch Failure—into distinct colors, making it easy to interpret the bars.</a:t>
            </a:r>
          </a:p>
          <a:p>
            <a:pPr>
              <a:buNone/>
            </a:pPr>
            <a:r>
              <a:rPr lang="en-US" b="1" dirty="0"/>
              <a:t>Color-Coding Enhances Comparison:</a:t>
            </a:r>
            <a:br>
              <a:rPr lang="en-US" dirty="0"/>
            </a:br>
            <a:r>
              <a:rPr lang="en-US" dirty="0"/>
              <a:t>Each mission status is assigned a unique color, helping the viewer visually separate different outcomes even in crowded yearly bars.</a:t>
            </a:r>
          </a:p>
          <a:p>
            <a:pPr>
              <a:buNone/>
            </a:pPr>
            <a:r>
              <a:rPr lang="en-US" b="1" dirty="0"/>
              <a:t>Improves Readability of Multi-Category Data:</a:t>
            </a:r>
            <a:br>
              <a:rPr lang="en-US" dirty="0"/>
            </a:br>
            <a:r>
              <a:rPr lang="en-US" dirty="0"/>
              <a:t>Since all four categories appear for each year, the legend ensures viewers can quickly identify which bar corresponds to which mission status.</a:t>
            </a:r>
          </a:p>
          <a:p>
            <a:pPr>
              <a:buNone/>
            </a:pPr>
            <a:r>
              <a:rPr lang="en-US" b="1" dirty="0"/>
              <a:t>Essential for Understanding Long-Term Trends:</a:t>
            </a:r>
            <a:br>
              <a:rPr lang="en-US" dirty="0"/>
            </a:br>
            <a:r>
              <a:rPr lang="en-US" dirty="0"/>
              <a:t>Without the legend, it would be difficult to understand which category is rising, falling, or stabilizing across decades.</a:t>
            </a:r>
          </a:p>
          <a:p>
            <a:pPr>
              <a:buNone/>
            </a:pPr>
            <a:r>
              <a:rPr lang="en-US" b="1" dirty="0"/>
              <a:t>Supports Accurate Data Interpretation:</a:t>
            </a:r>
            <a:br>
              <a:rPr lang="en-US" dirty="0"/>
            </a:br>
            <a:r>
              <a:rPr lang="en-US" dirty="0"/>
              <a:t>The legend prevents confusion by clearly mapping colors to outcomes, ensuring that the analysis remains accurate and user-friendly.</a:t>
            </a:r>
          </a:p>
        </p:txBody>
      </p:sp>
    </p:spTree>
    <p:extLst>
      <p:ext uri="{BB962C8B-B14F-4D97-AF65-F5344CB8AC3E}">
        <p14:creationId xmlns:p14="http://schemas.microsoft.com/office/powerpoint/2010/main" val="23378683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1642</Words>
  <Application>Microsoft Office PowerPoint</Application>
  <PresentationFormat>Widescreen</PresentationFormat>
  <Paragraphs>67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Eras Bold ITC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abhas tirpude</dc:creator>
  <cp:lastModifiedBy>abhas tirpude</cp:lastModifiedBy>
  <cp:revision>1</cp:revision>
  <dcterms:created xsi:type="dcterms:W3CDTF">2025-11-14T11:37:56Z</dcterms:created>
  <dcterms:modified xsi:type="dcterms:W3CDTF">2025-11-26T14:32:46Z</dcterms:modified>
</cp:coreProperties>
</file>